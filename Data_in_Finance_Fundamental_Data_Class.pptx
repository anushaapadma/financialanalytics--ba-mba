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1554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Data in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6591935" cy="753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/>
            </a:pPr>
            <a:r>
              <a:t>Financial Analytics | MBA Business Analytics</a:t>
            </a:r>
            <a:r>
              <a:rPr lang="en-IN"/>
              <a:t> 2026</a:t>
            </a:r>
          </a:p>
          <a:p>
            <a:pPr>
              <a:defRPr sz="1800"/>
            </a:pPr>
            <a:r>
              <a:t>Concepts + Practical Fundamental Data Acquisition with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Today's 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/>
            </a:pPr>
            <a:r>
              <a:t>Understand the major types of financial data.</a:t>
            </a:r>
          </a:p>
          <a:p>
            <a:pPr>
              <a:spcAft>
                <a:spcPts val="1100"/>
              </a:spcAft>
              <a:defRPr sz="2100"/>
            </a:pPr>
            <a:r>
              <a:t>Identify common sources of financial data.</a:t>
            </a:r>
          </a:p>
          <a:p>
            <a:pPr>
              <a:spcAft>
                <a:spcPts val="1100"/>
              </a:spcAft>
              <a:defRPr sz="2100"/>
            </a:pPr>
            <a:r>
              <a:t>Understand how fundamental data can be acquired programmatically.</a:t>
            </a:r>
          </a:p>
          <a:p>
            <a:pPr>
              <a:spcAft>
                <a:spcPts val="1100"/>
              </a:spcAft>
              <a:defRPr sz="2100"/>
            </a:pPr>
            <a:r>
              <a:t>Understand the three major financial statements.</a:t>
            </a:r>
          </a:p>
          <a:p>
            <a:pPr>
              <a:spcAft>
                <a:spcPts val="1100"/>
              </a:spcAft>
              <a:defRPr sz="2100"/>
            </a:pPr>
            <a:r>
              <a:t>Use Python and yfinance to retrieve and structure company financial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What Do We Mean by Financial Data?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/>
            </a:pPr>
            <a:r>
              <a:t>Information that helps us understand companies, markets, investors and the economy.</a:t>
            </a:r>
          </a:p>
          <a:p>
            <a:pPr>
              <a:spcAft>
                <a:spcPts val="1100"/>
              </a:spcAft>
              <a:defRPr sz="2100"/>
            </a:pPr>
            <a:r>
              <a:t>Traditionally: prices, profits, assets, liabilities, interest rates and other numerical information.</a:t>
            </a:r>
          </a:p>
          <a:p>
            <a:pPr>
              <a:spcAft>
                <a:spcPts val="1100"/>
              </a:spcAft>
              <a:defRPr sz="2100"/>
            </a:pPr>
            <a:r>
              <a:t>Today: finance also uses text, social media, images, audio, video and other non-numeric information.</a:t>
            </a:r>
          </a:p>
          <a:p>
            <a:pPr>
              <a:spcAft>
                <a:spcPts val="1100"/>
              </a:spcAft>
              <a:defRPr sz="2100"/>
            </a:pPr>
            <a:r>
              <a:t>Key question for an analyst: What data do I need to answer my financial question?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Four Types of Financial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/>
            </a:pPr>
            <a:r>
              <a:t>Fundamental data — information about a company's financial condition and performance.</a:t>
            </a:r>
          </a:p>
          <a:p>
            <a:pPr>
              <a:spcAft>
                <a:spcPts val="1100"/>
              </a:spcAft>
              <a:defRPr sz="2100"/>
            </a:pPr>
            <a:r>
              <a:t>Market data — information generated through transactions in financial markets.</a:t>
            </a:r>
          </a:p>
          <a:p>
            <a:pPr>
              <a:spcAft>
                <a:spcPts val="1100"/>
              </a:spcAft>
              <a:defRPr sz="2100"/>
            </a:pPr>
            <a:r>
              <a:t>Analytics data — information produced by other analysts.</a:t>
            </a:r>
          </a:p>
          <a:p>
            <a:pPr>
              <a:spcAft>
                <a:spcPts val="1100"/>
              </a:spcAft>
              <a:defRPr sz="2100"/>
            </a:pPr>
            <a:r>
              <a:t>Alternative data — newer/non-traditional sources of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1. Fundamental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/>
            </a:pPr>
            <a:r>
              <a:t>Fundamental data primarily comes from a company's financial statements.</a:t>
            </a:r>
          </a:p>
          <a:p>
            <a:pPr lvl="1">
              <a:spcAft>
                <a:spcPts val="1100"/>
              </a:spcAft>
              <a:defRPr sz="1800"/>
            </a:pPr>
            <a:r>
              <a:t>Income Statement → revenue, expenses, profit, EPS</a:t>
            </a:r>
          </a:p>
          <a:p>
            <a:pPr lvl="1">
              <a:spcAft>
                <a:spcPts val="1100"/>
              </a:spcAft>
              <a:defRPr sz="1800"/>
            </a:pPr>
            <a:r>
              <a:t>Balance Sheet → assets, liabilities, equity, debt</a:t>
            </a:r>
          </a:p>
          <a:p>
            <a:pPr lvl="1">
              <a:spcAft>
                <a:spcPts val="1100"/>
              </a:spcAft>
              <a:defRPr sz="1800"/>
            </a:pPr>
            <a:r>
              <a:t>Cash Flow Statement → operating, investing and financing cash flows</a:t>
            </a:r>
          </a:p>
          <a:p>
            <a:pPr>
              <a:spcAft>
                <a:spcPts val="1100"/>
              </a:spcAft>
              <a:defRPr sz="2100"/>
            </a:pPr>
            <a:r>
              <a:t>Today’s practical focuses on acquiring fundamental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Today's Focus: Fundamental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/>
            </a:pPr>
            <a:r>
              <a:t>We will use Python to acquire financial information about companies.</a:t>
            </a:r>
          </a:p>
          <a:p>
            <a:pPr>
              <a:spcAft>
                <a:spcPts val="1100"/>
              </a:spcAft>
              <a:defRPr sz="2100"/>
            </a:pPr>
            <a:r>
              <a:t>Financial statements are the main source of fundamental data.</a:t>
            </a:r>
          </a:p>
          <a:p>
            <a:pPr>
              <a:spcAft>
                <a:spcPts val="1100"/>
              </a:spcAft>
              <a:defRPr sz="2100"/>
            </a:pPr>
            <a:r>
              <a:t>Practical objective:</a:t>
            </a:r>
          </a:p>
          <a:p>
            <a:pPr lvl="1">
              <a:spcAft>
                <a:spcPts val="1100"/>
              </a:spcAft>
              <a:defRPr sz="1800"/>
            </a:pPr>
            <a:r>
              <a:t>Retrieve company information and financial statements</a:t>
            </a:r>
          </a:p>
          <a:p>
            <a:pPr lvl="1">
              <a:spcAft>
                <a:spcPts val="1100"/>
              </a:spcAft>
              <a:defRPr sz="1800"/>
            </a:pPr>
            <a:r>
              <a:t>Select relevant financial variables</a:t>
            </a:r>
          </a:p>
          <a:p>
            <a:pPr lvl="1">
              <a:spcAft>
                <a:spcPts val="1100"/>
              </a:spcAft>
              <a:defRPr sz="1800"/>
            </a:pPr>
            <a:r>
              <a:t>Create a structured dataset</a:t>
            </a:r>
          </a:p>
          <a:p>
            <a:pPr lvl="1">
              <a:spcAft>
                <a:spcPts val="1100"/>
              </a:spcAft>
              <a:defRPr sz="1800"/>
            </a:pPr>
            <a:r>
              <a:t>Automate the process for multiple companies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The Three Financial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/>
            </a:pPr>
            <a:r>
              <a:t>Income Statement → How did the company perform?</a:t>
            </a:r>
          </a:p>
          <a:p>
            <a:pPr>
              <a:spcAft>
                <a:spcPts val="1100"/>
              </a:spcAft>
              <a:defRPr sz="2100"/>
            </a:pPr>
            <a:r>
              <a:t>Balance Sheet → What does the company own and owe?</a:t>
            </a:r>
          </a:p>
          <a:p>
            <a:pPr>
              <a:spcAft>
                <a:spcPts val="1100"/>
              </a:spcAft>
              <a:defRPr sz="2100"/>
            </a:pPr>
            <a:r>
              <a:t>Cash Flow Statement → How did cash move through the business?</a:t>
            </a:r>
          </a:p>
          <a:p>
            <a:pPr>
              <a:spcAft>
                <a:spcPts val="1100"/>
              </a:spcAft>
              <a:defRPr sz="2100"/>
            </a:pPr>
            <a:r>
              <a:t>Think: Performance → Position → Cash Flows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Income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/>
            </a:pPr>
            <a:r>
              <a:t>Measures financial performance over a period.</a:t>
            </a:r>
          </a:p>
          <a:p>
            <a:pPr>
              <a:spcAft>
                <a:spcPts val="1100"/>
              </a:spcAft>
              <a:defRPr sz="2100"/>
            </a:pPr>
            <a:r>
              <a:t>Key variables:</a:t>
            </a:r>
          </a:p>
          <a:p>
            <a:pPr lvl="1">
              <a:spcAft>
                <a:spcPts val="1100"/>
              </a:spcAft>
              <a:defRPr sz="1800"/>
            </a:pPr>
            <a:r>
              <a:t>Revenue</a:t>
            </a:r>
          </a:p>
          <a:p>
            <a:pPr lvl="1">
              <a:spcAft>
                <a:spcPts val="1100"/>
              </a:spcAft>
              <a:defRPr sz="1800"/>
            </a:pPr>
            <a:r>
              <a:t>Gross Profit</a:t>
            </a:r>
          </a:p>
          <a:p>
            <a:pPr lvl="1">
              <a:spcAft>
                <a:spcPts val="1100"/>
              </a:spcAft>
              <a:defRPr sz="1800"/>
            </a:pPr>
            <a:r>
              <a:t>Operating Income / EBIT</a:t>
            </a:r>
          </a:p>
          <a:p>
            <a:pPr lvl="1">
              <a:spcAft>
                <a:spcPts val="1100"/>
              </a:spcAft>
              <a:defRPr sz="1800"/>
            </a:pPr>
            <a:r>
              <a:t>EBITDA</a:t>
            </a:r>
          </a:p>
          <a:p>
            <a:pPr lvl="1">
              <a:spcAft>
                <a:spcPts val="1100"/>
              </a:spcAft>
              <a:defRPr sz="1800"/>
            </a:pPr>
            <a:r>
              <a:t>Net Income</a:t>
            </a:r>
          </a:p>
          <a:p>
            <a:pPr>
              <a:spcAft>
                <a:spcPts val="1100"/>
              </a:spcAft>
              <a:defRPr sz="2100"/>
            </a:pPr>
            <a:r>
              <a:t>Question: Is the company's business generating profits?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Balance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213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/>
            </a:pPr>
            <a:r>
              <a:t>Shows the company's financial position at a point in time.</a:t>
            </a:r>
          </a:p>
          <a:p>
            <a:pPr lvl="1">
              <a:spcAft>
                <a:spcPts val="1100"/>
              </a:spcAft>
              <a:defRPr sz="1800"/>
            </a:pPr>
            <a:r>
              <a:t>Assets </a:t>
            </a:r>
            <a:r>
              <a:rPr lang="en-IN"/>
              <a:t>: </a:t>
            </a:r>
            <a:r>
              <a:t> cash, inventory, receivables, total assets</a:t>
            </a:r>
          </a:p>
          <a:p>
            <a:pPr lvl="1">
              <a:spcAft>
                <a:spcPts val="1100"/>
              </a:spcAft>
              <a:defRPr sz="1800"/>
            </a:pPr>
            <a:r>
              <a:t>Liabilities </a:t>
            </a:r>
            <a:r>
              <a:rPr lang="en-IN"/>
              <a:t>: </a:t>
            </a:r>
            <a:r>
              <a:t> current liabilities, debt, total liabilities</a:t>
            </a:r>
          </a:p>
          <a:p>
            <a:pPr lvl="1">
              <a:spcAft>
                <a:spcPts val="1100"/>
              </a:spcAft>
              <a:defRPr sz="1800"/>
            </a:pPr>
            <a:r>
              <a:t>Equity </a:t>
            </a:r>
            <a:r>
              <a:rPr lang="en-IN"/>
              <a:t>: </a:t>
            </a:r>
            <a:r>
              <a:t> shareholders' equity, retained earnings</a:t>
            </a:r>
          </a:p>
          <a:p>
            <a:pPr>
              <a:spcAft>
                <a:spcPts val="1100"/>
              </a:spcAft>
              <a:defRPr sz="2100"/>
            </a:pPr>
            <a:r>
              <a:t>Question: What does the company own, and how is it financed?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Cash Flow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2550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/>
            </a:pPr>
            <a:r>
              <a:t>Tracks movement of cash during a period.</a:t>
            </a:r>
          </a:p>
          <a:p>
            <a:pPr lvl="1">
              <a:spcAft>
                <a:spcPts val="1100"/>
              </a:spcAft>
              <a:defRPr sz="1800"/>
            </a:pPr>
            <a:r>
              <a:t>Operating Cash Flow </a:t>
            </a:r>
            <a:r>
              <a:rPr lang="en-IN"/>
              <a:t>:</a:t>
            </a:r>
            <a:r>
              <a:t> cash generated from operations</a:t>
            </a:r>
          </a:p>
          <a:p>
            <a:pPr lvl="1">
              <a:spcAft>
                <a:spcPts val="1100"/>
              </a:spcAft>
              <a:defRPr sz="1800"/>
            </a:pPr>
            <a:r>
              <a:t>Investing Cash Flow </a:t>
            </a:r>
            <a:r>
              <a:rPr lang="en-IN"/>
              <a:t>:</a:t>
            </a:r>
            <a:r>
              <a:t> cash used/generated through investments</a:t>
            </a:r>
          </a:p>
          <a:p>
            <a:pPr lvl="1">
              <a:spcAft>
                <a:spcPts val="1100"/>
              </a:spcAft>
              <a:defRPr sz="1800"/>
            </a:pPr>
            <a:r>
              <a:t>Financing Cash Flow </a:t>
            </a:r>
            <a:r>
              <a:rPr lang="en-IN"/>
              <a:t>:</a:t>
            </a:r>
            <a:r>
              <a:t> borrowing, repayment, equity/dividends etc.</a:t>
            </a:r>
          </a:p>
          <a:p>
            <a:pPr lvl="1">
              <a:spcAft>
                <a:spcPts val="1100"/>
              </a:spcAft>
              <a:defRPr sz="1800"/>
            </a:pPr>
            <a:r>
              <a:t>Other useful variables </a:t>
            </a:r>
            <a:r>
              <a:rPr lang="en-IN"/>
              <a:t>: </a:t>
            </a:r>
            <a:r>
              <a:t>Capital Expenditure and Free Cash Flow</a:t>
            </a:r>
          </a:p>
          <a:p>
            <a:pPr>
              <a:spcAft>
                <a:spcPts val="1100"/>
              </a:spcAft>
              <a:defRPr sz="2100"/>
            </a:pPr>
            <a:r>
              <a:t>Question: Is the company generating and using cash?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Where Can We Get Fundamental Data?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2271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/>
            </a:pPr>
            <a:r>
              <a:t>Company websites </a:t>
            </a:r>
            <a:r>
              <a:rPr lang="en-IN"/>
              <a:t>:</a:t>
            </a:r>
            <a:r>
              <a:t> annual reports and financial statements.</a:t>
            </a:r>
          </a:p>
          <a:p>
            <a:pPr>
              <a:spcAft>
                <a:spcPts val="1100"/>
              </a:spcAft>
              <a:defRPr sz="2100"/>
            </a:pPr>
            <a:r>
              <a:t>Regulatory filings </a:t>
            </a:r>
            <a:r>
              <a:rPr lang="en-IN"/>
              <a:t>:</a:t>
            </a:r>
            <a:r>
              <a:t> reported financial information.</a:t>
            </a:r>
          </a:p>
          <a:p>
            <a:pPr>
              <a:spcAft>
                <a:spcPts val="1100"/>
              </a:spcAft>
              <a:defRPr sz="2100"/>
            </a:pPr>
            <a:r>
              <a:t>Financial databases </a:t>
            </a:r>
            <a:r>
              <a:rPr lang="en-IN"/>
              <a:t>:</a:t>
            </a:r>
            <a:r>
              <a:t> structured company financial data.</a:t>
            </a:r>
          </a:p>
          <a:p>
            <a:pPr>
              <a:spcAft>
                <a:spcPts val="1100"/>
              </a:spcAft>
              <a:defRPr sz="2100"/>
            </a:pPr>
            <a:r>
              <a:t>Financial websites </a:t>
            </a:r>
            <a:r>
              <a:rPr lang="en-IN"/>
              <a:t>:</a:t>
            </a:r>
            <a:r>
              <a:t> accessible financial information.</a:t>
            </a:r>
          </a:p>
          <a:p>
            <a:pPr>
              <a:spcAft>
                <a:spcPts val="1100"/>
              </a:spcAft>
              <a:defRPr sz="2100"/>
            </a:pPr>
            <a:r>
              <a:t>Python libraries / APIs </a:t>
            </a:r>
            <a:r>
              <a:rPr lang="en-IN"/>
              <a:t>: </a:t>
            </a:r>
            <a:r>
              <a:t>programmatic access to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Why Use Python for Data Acquisition?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/>
            </a:pPr>
            <a:r>
              <a:t>Imagine collecting financial information manually for 50 companies.</a:t>
            </a:r>
          </a:p>
          <a:p>
            <a:pPr lvl="1">
              <a:spcAft>
                <a:spcPts val="1100"/>
              </a:spcAft>
              <a:defRPr sz="1800"/>
            </a:pPr>
            <a:r>
              <a:t>Open company source</a:t>
            </a:r>
          </a:p>
          <a:p>
            <a:pPr lvl="1">
              <a:spcAft>
                <a:spcPts val="1100"/>
              </a:spcAft>
              <a:defRPr sz="1800"/>
            </a:pPr>
            <a:r>
              <a:t>Find the statement</a:t>
            </a:r>
          </a:p>
          <a:p>
            <a:pPr lvl="1">
              <a:spcAft>
                <a:spcPts val="1100"/>
              </a:spcAft>
              <a:defRPr sz="1800"/>
            </a:pPr>
            <a:r>
              <a:t>Copy the variables</a:t>
            </a:r>
          </a:p>
          <a:p>
            <a:pPr lvl="1">
              <a:spcAft>
                <a:spcPts val="1100"/>
              </a:spcAft>
              <a:defRPr sz="1800"/>
            </a:pPr>
            <a:r>
              <a:t>Repeat 50 times</a:t>
            </a:r>
          </a:p>
          <a:p>
            <a:pPr>
              <a:spcAft>
                <a:spcPts val="1100"/>
              </a:spcAft>
              <a:defRPr sz="2100"/>
            </a:pPr>
            <a:r>
              <a:t>Python lets us define the process once and repeat it systematically.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Today's Practical: From One Company to Nifty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3199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/>
            </a:pPr>
            <a:r>
              <a:t>Step 1 </a:t>
            </a:r>
            <a:r>
              <a:rPr lang="en-IN"/>
              <a:t>:</a:t>
            </a:r>
            <a:r>
              <a:t> Start with one company: Reliance Industries.</a:t>
            </a:r>
          </a:p>
          <a:p>
            <a:pPr>
              <a:spcAft>
                <a:spcPts val="1100"/>
              </a:spcAft>
              <a:defRPr sz="2100"/>
            </a:pPr>
            <a:r>
              <a:t>Step 2 </a:t>
            </a:r>
            <a:r>
              <a:rPr lang="en-IN"/>
              <a:t>: </a:t>
            </a:r>
            <a:r>
              <a:t>Retrieve company information.</a:t>
            </a:r>
          </a:p>
          <a:p>
            <a:pPr>
              <a:spcAft>
                <a:spcPts val="1100"/>
              </a:spcAft>
              <a:defRPr sz="2100"/>
            </a:pPr>
            <a:r>
              <a:t>Step 3 </a:t>
            </a:r>
            <a:r>
              <a:rPr lang="en-IN"/>
              <a:t>: </a:t>
            </a:r>
            <a:r>
              <a:t> Retrieve the three financial statements.</a:t>
            </a:r>
          </a:p>
          <a:p>
            <a:pPr>
              <a:spcAft>
                <a:spcPts val="1100"/>
              </a:spcAft>
              <a:defRPr sz="2100"/>
            </a:pPr>
            <a:r>
              <a:t>Step 4 </a:t>
            </a:r>
            <a:r>
              <a:rPr lang="en-IN"/>
              <a:t>:</a:t>
            </a:r>
            <a:r>
              <a:t> Identify and extract relevant variables.</a:t>
            </a:r>
          </a:p>
          <a:p>
            <a:pPr>
              <a:spcAft>
                <a:spcPts val="1100"/>
              </a:spcAft>
              <a:defRPr sz="2100"/>
            </a:pPr>
            <a:r>
              <a:t>Step 5 </a:t>
            </a:r>
            <a:r>
              <a:rPr lang="en-IN"/>
              <a:t>:</a:t>
            </a:r>
            <a:r>
              <a:t> Create a structured DataFrame.</a:t>
            </a:r>
          </a:p>
          <a:p>
            <a:pPr>
              <a:spcAft>
                <a:spcPts val="1100"/>
              </a:spcAft>
              <a:defRPr sz="2100"/>
            </a:pPr>
            <a:r>
              <a:t>Step 6 </a:t>
            </a:r>
            <a:r>
              <a:rPr lang="en-IN"/>
              <a:t>:</a:t>
            </a:r>
            <a:r>
              <a:t> Automate the same process for Nifty 50 companies.</a:t>
            </a:r>
          </a:p>
          <a:p>
            <a:pPr>
              <a:spcAft>
                <a:spcPts val="1100"/>
              </a:spcAft>
              <a:defRPr sz="2100"/>
            </a:pPr>
            <a:r>
              <a:t>Step 7 </a:t>
            </a:r>
            <a:r>
              <a:rPr lang="en-IN"/>
              <a:t>:</a:t>
            </a:r>
            <a:r>
              <a:t> Export the final dataset.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411480"/>
            <a:ext cx="1612900" cy="5530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 yfinance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/>
            </a:pPr>
            <a:r>
              <a:t>yfinance is a Python library used to retrieve information from Yahoo Finance.</a:t>
            </a:r>
          </a:p>
          <a:p>
            <a:pPr>
              <a:spcAft>
                <a:spcPts val="1100"/>
              </a:spcAft>
              <a:defRPr sz="2100"/>
            </a:pPr>
            <a:r>
              <a:t>For today's practical, we use it to obtain company-level fundamental information.</a:t>
            </a:r>
          </a:p>
          <a:p>
            <a:pPr>
              <a:spcAft>
                <a:spcPts val="1100"/>
              </a:spcAft>
              <a:defRPr sz="2100"/>
            </a:pPr>
            <a:r>
              <a:t>We will retrieve:</a:t>
            </a:r>
          </a:p>
          <a:p>
            <a:pPr lvl="1">
              <a:spcAft>
                <a:spcPts val="1100"/>
              </a:spcAft>
              <a:defRPr sz="1800"/>
            </a:pPr>
            <a:r>
              <a:t>Company information</a:t>
            </a:r>
          </a:p>
          <a:p>
            <a:pPr lvl="1">
              <a:spcAft>
                <a:spcPts val="1100"/>
              </a:spcAft>
              <a:defRPr sz="1800"/>
            </a:pPr>
            <a:r>
              <a:t>Income Statement</a:t>
            </a:r>
          </a:p>
          <a:p>
            <a:pPr lvl="1">
              <a:spcAft>
                <a:spcPts val="1100"/>
              </a:spcAft>
              <a:defRPr sz="1800"/>
            </a:pPr>
            <a:r>
              <a:t>Balance Sheet</a:t>
            </a:r>
          </a:p>
          <a:p>
            <a:pPr lvl="1">
              <a:spcAft>
                <a:spcPts val="1100"/>
              </a:spcAft>
              <a:defRPr sz="1800"/>
            </a:pPr>
            <a:r>
              <a:t>Cash Flow Statement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Step 1: Identify the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/>
            </a:pPr>
            <a:r>
              <a:t>Every security has a ticker symbol used by the data provider.</a:t>
            </a:r>
          </a:p>
          <a:p>
            <a:pPr lvl="1">
              <a:spcAft>
                <a:spcPts val="1100"/>
              </a:spcAft>
              <a:defRPr sz="1800"/>
            </a:pPr>
            <a:r>
              <a:t>Reliance Industries → RELIANCE.NS</a:t>
            </a:r>
          </a:p>
          <a:p>
            <a:pPr lvl="1">
              <a:spcAft>
                <a:spcPts val="1100"/>
              </a:spcAft>
              <a:defRPr sz="1800"/>
            </a:pPr>
            <a:r>
              <a:t>TCS → TCS.NS</a:t>
            </a:r>
          </a:p>
          <a:p>
            <a:pPr>
              <a:spcAft>
                <a:spcPts val="1100"/>
              </a:spcAft>
              <a:defRPr sz="2100"/>
            </a:pPr>
            <a:r>
              <a:t>Python:</a:t>
            </a:r>
          </a:p>
          <a:p>
            <a:pPr lvl="1">
              <a:spcAft>
                <a:spcPts val="1100"/>
              </a:spcAft>
              <a:defRPr sz="1800"/>
            </a:pPr>
            <a:r>
              <a:t>company = yf.Ticker("RELIANCE.NS")</a:t>
            </a:r>
          </a:p>
          <a:p>
            <a:pPr>
              <a:spcAft>
                <a:spcPts val="1100"/>
              </a:spcAft>
              <a:defRPr sz="2100"/>
            </a:pPr>
            <a:r>
              <a:t>The ticker tells Python which company we want to retrieve.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Step 2: Company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/>
            </a:pPr>
            <a:r>
              <a:t>company.info provides company-level information available through the source.</a:t>
            </a:r>
          </a:p>
          <a:p>
            <a:pPr>
              <a:spcAft>
                <a:spcPts val="1100"/>
              </a:spcAft>
              <a:defRPr sz="2100"/>
            </a:pPr>
            <a:r>
              <a:t>Examples:</a:t>
            </a:r>
          </a:p>
          <a:p>
            <a:pPr lvl="1">
              <a:spcAft>
                <a:spcPts val="1100"/>
              </a:spcAft>
              <a:defRPr sz="1800"/>
            </a:pPr>
            <a:r>
              <a:t>Company name</a:t>
            </a:r>
          </a:p>
          <a:p>
            <a:pPr lvl="1">
              <a:spcAft>
                <a:spcPts val="1100"/>
              </a:spcAft>
              <a:defRPr sz="1800"/>
            </a:pPr>
            <a:r>
              <a:t>Sector / Industry</a:t>
            </a:r>
          </a:p>
          <a:p>
            <a:pPr lvl="1">
              <a:spcAft>
                <a:spcPts val="1100"/>
              </a:spcAft>
              <a:defRPr sz="1800"/>
            </a:pPr>
            <a:r>
              <a:t>Market Capitalization</a:t>
            </a:r>
          </a:p>
          <a:p>
            <a:pPr lvl="1">
              <a:spcAft>
                <a:spcPts val="1100"/>
              </a:spcAft>
              <a:defRPr sz="1800"/>
            </a:pPr>
            <a:r>
              <a:t>Enterprise Value</a:t>
            </a:r>
          </a:p>
          <a:p>
            <a:pPr lvl="1">
              <a:spcAft>
                <a:spcPts val="1100"/>
              </a:spcAft>
              <a:defRPr sz="1800"/>
            </a:pPr>
            <a:r>
              <a:t>P/E, P/B, EPS and Dividend Yield</a:t>
            </a:r>
          </a:p>
          <a:p>
            <a:pPr>
              <a:spcAft>
                <a:spcPts val="1100"/>
              </a:spcAft>
              <a:defRPr sz="2100"/>
            </a:pPr>
            <a:r>
              <a:t>We will inspect the information and identify what is useful for our analysis.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Step 3: Retrieve the Financial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/>
            </a:pPr>
            <a:r>
              <a:t>Python gives us access to the company's financial statements.</a:t>
            </a:r>
          </a:p>
          <a:p>
            <a:pPr lvl="1">
              <a:spcAft>
                <a:spcPts val="1100"/>
              </a:spcAft>
              <a:defRPr sz="1800"/>
            </a:pPr>
            <a:r>
              <a:t>income = company.financials</a:t>
            </a:r>
          </a:p>
          <a:p>
            <a:pPr lvl="1">
              <a:spcAft>
                <a:spcPts val="1100"/>
              </a:spcAft>
              <a:defRPr sz="1800"/>
            </a:pPr>
            <a:r>
              <a:t>balance = company.balance_sheet</a:t>
            </a:r>
          </a:p>
          <a:p>
            <a:pPr lvl="1">
              <a:spcAft>
                <a:spcPts val="1100"/>
              </a:spcAft>
              <a:defRPr sz="1800"/>
            </a:pPr>
            <a:r>
              <a:t>cashflow = company.cashflow</a:t>
            </a:r>
          </a:p>
          <a:p>
            <a:pPr>
              <a:spcAft>
                <a:spcPts val="1100"/>
              </a:spcAft>
              <a:defRPr sz="2100"/>
            </a:pPr>
            <a:r>
              <a:t>Now we have three separate tables representing three different financial statements.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Step 4: Inspect the Available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/>
            </a:pPr>
            <a:r>
              <a:t>Before extracting a variable, we need to know its exact label in the dataset.</a:t>
            </a:r>
          </a:p>
          <a:p>
            <a:pPr lvl="1">
              <a:spcAft>
                <a:spcPts val="1100"/>
              </a:spcAft>
              <a:defRPr sz="1800"/>
            </a:pPr>
            <a:r>
              <a:t>income.index</a:t>
            </a:r>
          </a:p>
          <a:p>
            <a:pPr lvl="1">
              <a:spcAft>
                <a:spcPts val="1100"/>
              </a:spcAft>
              <a:defRPr sz="1800"/>
            </a:pPr>
            <a:r>
              <a:t>balance.index</a:t>
            </a:r>
          </a:p>
          <a:p>
            <a:pPr lvl="1">
              <a:spcAft>
                <a:spcPts val="1100"/>
              </a:spcAft>
              <a:defRPr sz="1800"/>
            </a:pPr>
            <a:r>
              <a:t>cashflow.index</a:t>
            </a:r>
          </a:p>
          <a:p>
            <a:pPr>
              <a:spcAft>
                <a:spcPts val="1100"/>
              </a:spcAft>
              <a:defRPr sz="2100"/>
            </a:pPr>
            <a:r>
              <a:t>Why? Because the data source may use a specific label such as 'Total Revenue'.</a:t>
            </a:r>
          </a:p>
          <a:p>
            <a:pPr>
              <a:spcAft>
                <a:spcPts val="1100"/>
              </a:spcAft>
              <a:defRPr sz="2100"/>
            </a:pPr>
            <a:r>
              <a:t>Key lesson: inspect the dataset before trying to extract variables.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Step 5: Select the Variables We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/>
            </a:pPr>
            <a:r>
              <a:t>We do not necessarily need every available financial variable.</a:t>
            </a:r>
          </a:p>
          <a:p>
            <a:pPr>
              <a:spcAft>
                <a:spcPts val="1100"/>
              </a:spcAft>
              <a:defRPr sz="2100"/>
            </a:pPr>
            <a:r>
              <a:t>Examples:</a:t>
            </a:r>
          </a:p>
          <a:p>
            <a:pPr lvl="1">
              <a:spcAft>
                <a:spcPts val="1100"/>
              </a:spcAft>
              <a:defRPr sz="1800"/>
            </a:pPr>
            <a:r>
              <a:t>Revenue, EBITDA and Net Income</a:t>
            </a:r>
          </a:p>
          <a:p>
            <a:pPr lvl="1">
              <a:spcAft>
                <a:spcPts val="1100"/>
              </a:spcAft>
              <a:defRPr sz="1800"/>
            </a:pPr>
            <a:r>
              <a:t>Total Assets, Cash, Debt and Equity</a:t>
            </a:r>
          </a:p>
          <a:p>
            <a:pPr lvl="1">
              <a:spcAft>
                <a:spcPts val="1100"/>
              </a:spcAft>
              <a:defRPr sz="1800"/>
            </a:pPr>
            <a:r>
              <a:t>Operating, Investing and Financing Cash Flow</a:t>
            </a:r>
          </a:p>
          <a:p>
            <a:pPr lvl="1">
              <a:spcAft>
                <a:spcPts val="1100"/>
              </a:spcAft>
              <a:defRPr sz="1800"/>
            </a:pPr>
            <a:r>
              <a:t>Capital Expenditure and Free Cash Flow</a:t>
            </a:r>
          </a:p>
          <a:p>
            <a:pPr>
              <a:spcAft>
                <a:spcPts val="1100"/>
              </a:spcAft>
              <a:defRPr sz="2100"/>
            </a:pPr>
            <a:r>
              <a:t>Company-level metrics such as Market Cap and Enterprise Value can also be selected.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From Financial Statements to a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/>
            </a:pPr>
            <a:r>
              <a:t>We take selected variables from the three statements and company information.</a:t>
            </a:r>
          </a:p>
          <a:p>
            <a:pPr>
              <a:spcAft>
                <a:spcPts val="1100"/>
              </a:spcAft>
              <a:defRPr sz="2100"/>
            </a:pPr>
            <a:r>
              <a:t>Conceptually:</a:t>
            </a:r>
          </a:p>
          <a:p>
            <a:pPr lvl="1">
              <a:spcAft>
                <a:spcPts val="1100"/>
              </a:spcAft>
              <a:defRPr sz="1800"/>
            </a:pPr>
            <a:r>
              <a:t>One row → one company</a:t>
            </a:r>
          </a:p>
          <a:p>
            <a:pPr lvl="1">
              <a:spcAft>
                <a:spcPts val="1100"/>
              </a:spcAft>
              <a:defRPr sz="1800"/>
            </a:pPr>
            <a:r>
              <a:t>One column → one financial variable</a:t>
            </a:r>
          </a:p>
          <a:p>
            <a:pPr>
              <a:spcAft>
                <a:spcPts val="1100"/>
              </a:spcAft>
              <a:defRPr sz="2100"/>
            </a:pPr>
            <a:r>
              <a:t>The result is a structured dataset that can be used for further financial analysis.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What Is a Pandas DataFrame?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/>
            </a:pPr>
            <a:r>
              <a:t>A DataFrame is a tabular data structure in Python.</a:t>
            </a:r>
          </a:p>
          <a:p>
            <a:pPr>
              <a:spcAft>
                <a:spcPts val="1100"/>
              </a:spcAft>
              <a:defRPr sz="2100"/>
            </a:pPr>
            <a:r>
              <a:t>Think of it as an Excel-like table inside Python.</a:t>
            </a:r>
          </a:p>
          <a:p>
            <a:pPr lvl="1">
              <a:spcAft>
                <a:spcPts val="1100"/>
              </a:spcAft>
              <a:defRPr sz="1800"/>
            </a:pPr>
            <a:r>
              <a:t>Rows → observations / companies</a:t>
            </a:r>
          </a:p>
          <a:p>
            <a:pPr lvl="1">
              <a:spcAft>
                <a:spcPts val="1100"/>
              </a:spcAft>
              <a:defRPr sz="1800"/>
            </a:pPr>
            <a:r>
              <a:t>Columns → variables / financial measures</a:t>
            </a:r>
          </a:p>
          <a:p>
            <a:pPr>
              <a:spcAft>
                <a:spcPts val="1100"/>
              </a:spcAft>
              <a:defRPr sz="2100"/>
            </a:pPr>
            <a:r>
              <a:t>Our final dataset will contain multiple companies and their financial characteristics.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Step 6: Automate the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/>
            </a:pPr>
            <a:r>
              <a:t>So far, we have worked with ONE company.</a:t>
            </a:r>
          </a:p>
          <a:p>
            <a:pPr>
              <a:spcAft>
                <a:spcPts val="1100"/>
              </a:spcAft>
              <a:defRPr sz="2100"/>
            </a:pPr>
            <a:r>
              <a:t>What if we want the same information for 50 companies?</a:t>
            </a:r>
          </a:p>
          <a:p>
            <a:pPr>
              <a:spcAft>
                <a:spcPts val="1100"/>
              </a:spcAft>
              <a:defRPr sz="2100"/>
            </a:pPr>
            <a:r>
              <a:t>Instead of repeating the code manually, we use a Python loop.</a:t>
            </a:r>
          </a:p>
          <a:p>
            <a:pPr lvl="1">
              <a:spcAft>
                <a:spcPts val="1100"/>
              </a:spcAft>
              <a:defRPr sz="1800"/>
            </a:pPr>
            <a:r>
              <a:t>for symbol in companies:</a:t>
            </a:r>
          </a:p>
          <a:p>
            <a:pPr>
              <a:spcAft>
                <a:spcPts val="1100"/>
              </a:spcAft>
              <a:defRPr sz="2100"/>
            </a:pPr>
            <a:r>
              <a:t>Python repeats the same extraction process for every ticker in the list.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Handling Missing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/>
            </a:pPr>
            <a:r>
              <a:t>Different companies may not have every variable available under the same label.</a:t>
            </a:r>
          </a:p>
          <a:p>
            <a:pPr>
              <a:spcAft>
                <a:spcPts val="1100"/>
              </a:spcAft>
              <a:defRPr sz="2100"/>
            </a:pPr>
            <a:r>
              <a:t>The notebook uses a helper function to retrieve a value when available.</a:t>
            </a:r>
          </a:p>
          <a:p>
            <a:pPr lvl="1">
              <a:spcAft>
                <a:spcPts val="1100"/>
              </a:spcAft>
              <a:defRPr sz="1800"/>
            </a:pPr>
            <a:r>
              <a:t>If the variable exists → retrieve it</a:t>
            </a:r>
          </a:p>
          <a:p>
            <a:pPr lvl="1">
              <a:spcAft>
                <a:spcPts val="1100"/>
              </a:spcAft>
              <a:defRPr sz="1800"/>
            </a:pPr>
            <a:r>
              <a:t>If it is unavailable → return None and continue</a:t>
            </a:r>
          </a:p>
          <a:p>
            <a:pPr>
              <a:spcAft>
                <a:spcPts val="1100"/>
              </a:spcAft>
              <a:defRPr sz="2100"/>
            </a:pPr>
            <a:r>
              <a:t>The purpose is to keep the automated process running across companies.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Building the Nifty 50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/>
            </a:pPr>
            <a:r>
              <a:t>Nifty 50 ticker list</a:t>
            </a:r>
          </a:p>
          <a:p>
            <a:pPr>
              <a:spcAft>
                <a:spcPts val="1100"/>
              </a:spcAft>
              <a:defRPr sz="2100"/>
            </a:pPr>
            <a:r>
              <a:t>↓</a:t>
            </a:r>
          </a:p>
          <a:p>
            <a:pPr>
              <a:spcAft>
                <a:spcPts val="1100"/>
              </a:spcAft>
              <a:defRPr sz="2100"/>
            </a:pPr>
            <a:r>
              <a:t>Python loop</a:t>
            </a:r>
          </a:p>
          <a:p>
            <a:pPr>
              <a:spcAft>
                <a:spcPts val="1100"/>
              </a:spcAft>
              <a:defRPr sz="2100"/>
            </a:pPr>
            <a:r>
              <a:t>↓</a:t>
            </a:r>
          </a:p>
          <a:p>
            <a:pPr>
              <a:spcAft>
                <a:spcPts val="1100"/>
              </a:spcAft>
              <a:defRPr sz="2100"/>
            </a:pPr>
            <a:r>
              <a:t>Company information + Income Statement + Balance Sheet + Cash Flow</a:t>
            </a:r>
          </a:p>
          <a:p>
            <a:pPr>
              <a:spcAft>
                <a:spcPts val="1100"/>
              </a:spcAft>
              <a:defRPr sz="2100"/>
            </a:pPr>
            <a:r>
              <a:t>↓</a:t>
            </a:r>
          </a:p>
          <a:p>
            <a:pPr>
              <a:spcAft>
                <a:spcPts val="1100"/>
              </a:spcAft>
              <a:defRPr sz="2100"/>
            </a:pPr>
            <a:r>
              <a:t>Selected variables</a:t>
            </a:r>
          </a:p>
          <a:p>
            <a:pPr>
              <a:spcAft>
                <a:spcPts val="1100"/>
              </a:spcAft>
              <a:defRPr sz="2100"/>
            </a:pPr>
            <a:r>
              <a:t>↓</a:t>
            </a:r>
          </a:p>
          <a:p>
            <a:pPr>
              <a:spcAft>
                <a:spcPts val="1100"/>
              </a:spcAft>
              <a:defRPr sz="2100"/>
            </a:pPr>
            <a:r>
              <a:t>One structured DataFrame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Checking the Final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100"/>
              </a:spcAft>
              <a:defRPr sz="1800"/>
            </a:pPr>
            <a:r>
              <a:t>fundamental_df.shape</a:t>
            </a:r>
          </a:p>
          <a:p>
            <a:pPr>
              <a:spcAft>
                <a:spcPts val="1100"/>
              </a:spcAft>
              <a:defRPr sz="2100"/>
            </a:pPr>
            <a:r>
              <a:t>Shows the number of rows and columns.</a:t>
            </a:r>
          </a:p>
          <a:p>
            <a:pPr>
              <a:spcAft>
                <a:spcPts val="1100"/>
              </a:spcAft>
              <a:defRPr sz="2100"/>
            </a:pPr>
            <a:r>
              <a:t>Example: (50, 32) means 50 companies × 32 variables.</a:t>
            </a:r>
          </a:p>
          <a:p>
            <a:pPr lvl="1">
              <a:spcAft>
                <a:spcPts val="1100"/>
              </a:spcAft>
              <a:defRPr sz="1800"/>
            </a:pPr>
            <a:r>
              <a:t>fundamental_df.head()</a:t>
            </a:r>
          </a:p>
          <a:p>
            <a:pPr>
              <a:spcAft>
                <a:spcPts val="1100"/>
              </a:spcAft>
              <a:defRPr sz="2100"/>
            </a:pPr>
            <a:r>
              <a:t>Shows the first few observations.</a:t>
            </a:r>
          </a:p>
          <a:p>
            <a:pPr lvl="1">
              <a:spcAft>
                <a:spcPts val="1100"/>
              </a:spcAft>
              <a:defRPr sz="1800"/>
            </a:pPr>
            <a:r>
              <a:t>fundamental_df.info()</a:t>
            </a:r>
          </a:p>
          <a:p>
            <a:pPr>
              <a:spcAft>
                <a:spcPts val="1100"/>
              </a:spcAft>
              <a:defRPr sz="2100"/>
            </a:pPr>
            <a:r>
              <a:t>Shows the structure and data types of the dataset.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Final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100"/>
              </a:spcAft>
              <a:defRPr sz="1800"/>
            </a:pPr>
            <a:r>
              <a:t>Fundamental_Data.csv</a:t>
            </a:r>
          </a:p>
          <a:p>
            <a:pPr>
              <a:spcAft>
                <a:spcPts val="1100"/>
              </a:spcAft>
              <a:defRPr sz="2100"/>
            </a:pPr>
            <a:r>
              <a:t>The final dataset contains selected fundamental variables for multiple companies.</a:t>
            </a:r>
          </a:p>
          <a:p>
            <a:pPr>
              <a:spcAft>
                <a:spcPts val="1100"/>
              </a:spcAft>
              <a:defRPr sz="2100"/>
            </a:pPr>
            <a:r>
              <a:t>Rows → Companies</a:t>
            </a:r>
          </a:p>
          <a:p>
            <a:pPr>
              <a:spcAft>
                <a:spcPts val="1100"/>
              </a:spcAft>
              <a:defRPr sz="2100"/>
            </a:pPr>
            <a:r>
              <a:t>Columns → Financial variables</a:t>
            </a:r>
          </a:p>
          <a:p>
            <a:pPr>
              <a:spcAft>
                <a:spcPts val="1100"/>
              </a:spcAft>
              <a:defRPr sz="2100"/>
            </a:pPr>
            <a:r>
              <a:t>The dataset can now be used as an input for subsequent financial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7263</Words>
  <Application>WPS Presentation</Application>
  <PresentationFormat>On-screen Show (4:3)</PresentationFormat>
  <Paragraphs>226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google1594646823</cp:lastModifiedBy>
  <cp:revision>2</cp:revision>
  <dcterms:created xsi:type="dcterms:W3CDTF">2013-01-27T09:14:00Z</dcterms:created>
  <dcterms:modified xsi:type="dcterms:W3CDTF">2026-08-10T01:47:53Z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C3470BD062F34EF28F425CFBB9C7A0BE_13</vt:lpwstr>
  </property>
  <property fmtid="{D5CDD505-2E9C-101B-9397-08002B2CF9AE}" pid="3" name="KSOProductBuildVer">
    <vt:lpwstr>1033-12.1.0.28032</vt:lpwstr>
  </property>
</Properties>
</file>