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4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asking for a show of hands: who would assume 30% growth continues? Ask what evidence they would want before making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these forecasts feed valuation models, budgeting, and lending decisions. Ask what happens if growth is overestimated.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these four questions before each practical. The code is simply a tool for answering the finance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that the textbook asks about &gt;100% growth; the class dataset uses 20–40% as a practical comparable band because examples above 100% are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calculate 30% and 25% before revealing the answers. Explain why we compare percentages rather than revenue amounts.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12.5% is a hypothetical two-company example. We do not average the current growth rates to forecast; we average what happened the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Distinguish average from median: the full sample had mean growth 51.24% vs median 10.79% because of extreme outliers. The 15 observations are the comparable cases with next-year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peers ideally should also match on industry, size and business conditions. The simple classroom benchmark pools different 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claim high growth ends after 1.22 years: some periods are still ongoing at the last observation, and the history 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if sales are ₹100 crore and EBIT ₹20 crore, what is margin? Explain margin as operating profit per ₹100 of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10th/90th percentile as cutoffs, not margin percentages. In notebook the low_margin and high_margin variables must be calculated before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Write 60+80 divided by 2 on board, then 50+60 divided by 2. Explain why FY2026 observations without FY2027 must be excluded from BOTH sides of the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percentage points versus percent. High margins declined by 11.42 percentage POINTS, not 11.42%. Interpret as a historical sample tendency.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to calculate 80−11.42 and 3+2.62 aloud. Note that a sector-aware forecast would be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back to finance jobs: investment analyst, equity research, FP&amp;A, credit analyst. Explain why an average without context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asking students to articulate what, why and how in one minute. Mention negative working capital is omitted because Current Liabilities are unavailable in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A FINANCIAL ANALYST’S FORECASTING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Can exceptional performance continue?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72184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B798B"/>
                </a:solidFill>
                <a:latin typeface="Aptos"/>
              </a:defRPr>
            </a:pPr>
            <a:r>
              <a:t>From financial statements → comparable histories → evidence → forward-looking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86000"/>
            <a:ext cx="10744200" cy="246888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679192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company just reported 30% revenue growth and an 80% operating margin.</a:t>
            </a:r>
          </a:p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Would you forecast the same performance next year?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2669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9494"/>
                </a:solidFill>
                <a:latin typeface="Aptos"/>
              </a:defRPr>
            </a:pPr>
            <a:r>
              <a:t>The analyst’s job is not to repeat last year’s number. It is to build a defensible assumption.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Why do analysts need this technique?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344728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847088"/>
            <a:ext cx="73152" cy="329184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048256"/>
            <a:ext cx="3008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06040"/>
            <a:ext cx="299008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Forecast revenue and operating profit to estimate future cash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47088"/>
            <a:ext cx="344728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9976" y="1847088"/>
            <a:ext cx="73152" cy="329184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048256"/>
            <a:ext cx="3008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Budgeting &amp;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606040"/>
            <a:ext cx="299008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Set targets, staffing, capacity and investment plans.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47088"/>
            <a:ext cx="344728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47088"/>
            <a:ext cx="73152" cy="329184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048256"/>
            <a:ext cx="30083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Credit &amp;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06040"/>
            <a:ext cx="299008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Judge whether earnings can support debt or justify a price.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1F34"/>
                </a:solidFill>
                <a:latin typeface="Aptos"/>
              </a:defRPr>
            </a:pPr>
            <a:r>
              <a:t>One questionable growth assumption can distort an entire financial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Our forecasting logic: four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3095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618488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4873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Which performance measure are we predicting?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828800"/>
            <a:ext cx="533095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27648" y="1828800"/>
            <a:ext cx="73152" cy="1618488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2029968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587752"/>
            <a:ext cx="4873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Why might the latest number be unusual?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85031"/>
            <a:ext cx="533095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85031"/>
            <a:ext cx="73152" cy="1618488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886199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HOW?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3"/>
            <a:ext cx="4873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What happened next to similar companies in the past?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3685031"/>
            <a:ext cx="533095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27648" y="3685031"/>
            <a:ext cx="73152" cy="1618488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3886199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443983"/>
            <a:ext cx="4873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What assumption should we use for next year?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REVENUE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Question 1: Can high revenue growth persist?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73152" cy="333756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029968"/>
            <a:ext cx="4818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The analyst’s concern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87752"/>
            <a:ext cx="4800600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A business grew rapidly last year. Is that a lasting trend or a one-off jump?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0488" y="1828800"/>
            <a:ext cx="73152" cy="3337560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029968"/>
            <a:ext cx="4818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The evidence we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87752"/>
            <a:ext cx="4800600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Find historical company-years with similar growth, then observe their following-year growth.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5955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Revenue growth = (Current revenue − Previous revenue) ÷ Previous revenue ×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WORKED EXAMPLE  •  NO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Manual example: calculate growth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512064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73152" cy="333756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029968"/>
            <a:ext cx="46817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Company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87752"/>
            <a:ext cx="4663440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FY2024 revenue: ₹100 crore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FY2025 revenue: ₹130 crore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Growth: (130 − 100) / 100 = 30%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1828800"/>
            <a:ext cx="5330952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08192" y="1828800"/>
            <a:ext cx="73152" cy="3337560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2029968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Company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587752"/>
            <a:ext cx="487375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FY2024 revenue: ₹200 crore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FY2025 revenue: ₹250 crore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Growth: (250 − 200) / 200 =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1383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9494"/>
                </a:solidFill>
                <a:latin typeface="Aptos"/>
              </a:defRPr>
            </a:pPr>
            <a:r>
              <a:t>Both companies belong to our 20%–40% historical growth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COMPARABLE-COMPANY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The crucial move: look one year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525780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01952"/>
            <a:ext cx="73152" cy="338328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818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Company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48006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FY2025 growth: 30%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FY2026 growth: 10%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Growth slowed by 20 percentage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01952"/>
            <a:ext cx="525780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0488" y="1901952"/>
            <a:ext cx="73152" cy="3383280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103120"/>
            <a:ext cx="4818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Company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660904"/>
            <a:ext cx="48006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FY2025 growth: 25%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FY2026 growth: 15%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Growth slowed by 10 percentage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77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1F34"/>
                </a:solidFill>
                <a:latin typeface="Aptos"/>
              </a:defRPr>
            </a:pPr>
            <a:r>
              <a:t>Average following-year growth = (10% + 15%) ÷ 2 = 12.5%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REVENUE GROWTH  •  CLASS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What did our actual dataset reveal?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039112"/>
            <a:ext cx="3200400" cy="21214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46888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009494"/>
                </a:solidFill>
                <a:latin typeface="Aptos"/>
              </a:defRPr>
            </a:pPr>
            <a:r>
              <a:t>28.51%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284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B384A"/>
                </a:solidFill>
                <a:latin typeface="Aptos"/>
              </a:defRPr>
            </a:pPr>
            <a:r>
              <a:t>Initial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039112"/>
            <a:ext cx="3200400" cy="21214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4" y="246888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009494"/>
                </a:solidFill>
                <a:latin typeface="Aptos"/>
              </a:defRPr>
            </a:pPr>
            <a:r>
              <a:t>12.70%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33284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B384A"/>
                </a:solidFill>
                <a:latin typeface="Aptos"/>
              </a:defRPr>
            </a:pPr>
            <a:r>
              <a:t>Following-year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039112"/>
            <a:ext cx="3200400" cy="21214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246888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009494"/>
                </a:solidFill>
                <a:latin typeface="Aptos"/>
              </a:defRPr>
            </a:pPr>
            <a:r>
              <a:t>7.61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33284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B384A"/>
                </a:solidFill>
                <a:latin typeface="Aptos"/>
              </a:defRPr>
            </a:pPr>
            <a:r>
              <a:t>Following-year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709160"/>
            <a:ext cx="10561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21F34"/>
                </a:solidFill>
                <a:latin typeface="Aptos"/>
              </a:defRPr>
            </a:pPr>
            <a:r>
              <a:t>15 matched company-year observations: high growth moderated on average, but outcomes varied. This is evidence for an assumption—not a guarantee.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FORECASTING  •  MANUAL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Turn historical evidence into a revenue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10716768" cy="1143000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121408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Forecast revenue = Current revenue × (1 + Expected growth)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3310128"/>
            <a:ext cx="5148072" cy="1984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3310128"/>
            <a:ext cx="73152" cy="1984248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3" y="3511296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Illustrative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4069080"/>
            <a:ext cx="46908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₹1,000 crore × 1.127 = ₹1,127 crore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310128"/>
            <a:ext cx="5148072" cy="1984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44768" y="3310128"/>
            <a:ext cx="73152" cy="1984248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511296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Actual-company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069080"/>
            <a:ext cx="46908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Apply the same benchmark to latest available Adani Ports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70585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494"/>
                </a:solidFill>
                <a:latin typeface="Aptos"/>
              </a:defRPr>
            </a:pPr>
            <a:r>
              <a:t>Question: Would you use 12.7% for every sector and every company? Why not?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SUPPLEMENTARY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How long does high growth last?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48072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338328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Observed high-growth 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4690872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19 lasted 1 observed year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3 lasted 2 observed years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1 lasted 3 observed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828800"/>
            <a:ext cx="5148072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1828800"/>
            <a:ext cx="73152" cy="3383280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02996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What 1.22 years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87752"/>
            <a:ext cx="4690872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Average observed streak length in this short dataset—not the true expected lifetime of high growth.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532120"/>
            <a:ext cx="10241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1F34"/>
                </a:solidFill>
                <a:latin typeface="Aptos"/>
              </a:defRPr>
            </a:pPr>
            <a:r>
              <a:t>For forecasting, following-year comparable growth is more useful than treating 1.22 years as an expiry 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OPERATING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Question 2: Will an extreme margin persist?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828800"/>
            <a:ext cx="5166360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" y="1828800"/>
            <a:ext cx="73152" cy="33192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029968"/>
            <a:ext cx="4727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What is operating margin?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587752"/>
            <a:ext cx="4709160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EBIT ÷ Revenue × 100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₹20 crore EBIT on ₹100 crore revenue = 20% margin.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828800"/>
            <a:ext cx="5166360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1828800"/>
            <a:ext cx="73152" cy="3319272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029968"/>
            <a:ext cx="4727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Why forecast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87752"/>
            <a:ext cx="4709160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Revenue alone does not tell us profit. Two companies with identical sales can generate very different operating earnings.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138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9494"/>
                </a:solidFill>
                <a:latin typeface="Aptos"/>
              </a:defRPr>
            </a:pPr>
            <a:r>
              <a:t>Analyst’s question: Is an unusually high or low margin sustainable?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PERCENTILES  • 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How do we define “unusually high” or “low”?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03120"/>
            <a:ext cx="33375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2103120"/>
            <a:ext cx="73152" cy="2468880"/>
          </a:xfrm>
          <a:prstGeom prst="rect">
            <a:avLst/>
          </a:prstGeom>
          <a:solidFill>
            <a:srgbClr val="BE4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304288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862072"/>
            <a:ext cx="28803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Bottom 10% of observed margins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03120"/>
            <a:ext cx="33375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103120"/>
            <a:ext cx="73152" cy="246888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304288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862072"/>
            <a:ext cx="28803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Middle 80% of observed margins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03120"/>
            <a:ext cx="33375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2103120"/>
            <a:ext cx="73152" cy="2468880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304288"/>
            <a:ext cx="2898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862072"/>
            <a:ext cx="28803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Top 10% of observed margins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11496"/>
            <a:ext cx="104241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21F34"/>
                </a:solidFill>
                <a:latin typeface="Aptos"/>
              </a:defRPr>
            </a:pPr>
            <a:r>
              <a:t>These are relative categories within our sample—not fixed industry standards. A “high” margin in one sector may be normal in another.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MATCH CURRENT AND FOLLOWING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Manual example: how margins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5184648" cy="3310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73152" cy="3310128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075688"/>
            <a:ext cx="4745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High-margin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633472"/>
            <a:ext cx="472744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Firm A: 60% → 50%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Firm B: 80% → 60%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Average: 70% → 55%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874519"/>
            <a:ext cx="5184648" cy="3310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1874519"/>
            <a:ext cx="73152" cy="3310128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075688"/>
            <a:ext cx="4745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What did we learn?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633472"/>
            <a:ext cx="472744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The average high margin fell by 15 percentage points. This is a group pattern, not a rule for every company.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550408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9494"/>
                </a:solidFill>
                <a:latin typeface="Aptos"/>
              </a:defRPr>
            </a:pPr>
            <a:r>
              <a:t>Always compare the SAME company-year observations before and after.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OPERATING MARGIN  •  MATCHED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What happened in our margin analysis?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84248"/>
            <a:ext cx="2880360" cy="667512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39" y="2121408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984248"/>
            <a:ext cx="2377440" cy="667512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2121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84248"/>
            <a:ext cx="2468880" cy="667512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1214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Next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8552" y="1984248"/>
            <a:ext cx="2377440" cy="667512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25712" y="2121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706624"/>
            <a:ext cx="28803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39" y="2880360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384A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706624"/>
            <a:ext cx="2377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B384A"/>
                </a:solidFill>
                <a:latin typeface="Aptos"/>
              </a:defRPr>
            </a:pPr>
            <a:r>
              <a:t>79.98%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06624"/>
            <a:ext cx="246888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B384A"/>
                </a:solidFill>
                <a:latin typeface="Aptos"/>
              </a:defRPr>
            </a:pPr>
            <a:r>
              <a:t>68.56%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8552" y="2706624"/>
            <a:ext cx="2377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25712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9494"/>
                </a:solidFill>
                <a:latin typeface="Aptos"/>
              </a:defRPr>
            </a:pPr>
            <a:r>
              <a:t>−11.42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547872"/>
            <a:ext cx="28803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39" y="3721608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384A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3547872"/>
            <a:ext cx="2377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0" y="37216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B384A"/>
                </a:solidFill>
                <a:latin typeface="Aptos"/>
              </a:defRPr>
            </a:pPr>
            <a:r>
              <a:t>2.46%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547872"/>
            <a:ext cx="246888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721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B384A"/>
                </a:solidFill>
                <a:latin typeface="Aptos"/>
              </a:defRPr>
            </a:pPr>
            <a:r>
              <a:t>5.08%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88552" y="3547872"/>
            <a:ext cx="2377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25712" y="37216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9494"/>
                </a:solidFill>
                <a:latin typeface="Aptos"/>
              </a:defRPr>
            </a:pPr>
            <a:r>
              <a:t>+2.62 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389120"/>
            <a:ext cx="28803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" y="4562856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B384A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4389120"/>
            <a:ext cx="2377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60" y="45628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B384A"/>
                </a:solidFill>
                <a:latin typeface="Aptos"/>
              </a:defRPr>
            </a:pPr>
            <a:r>
              <a:t>18.38%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389120"/>
            <a:ext cx="246888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45628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B384A"/>
                </a:solidFill>
                <a:latin typeface="Aptos"/>
              </a:defRPr>
            </a:pPr>
            <a:r>
              <a:t>18.89%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8552" y="4389120"/>
            <a:ext cx="2377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25712" y="45628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9494"/>
                </a:solidFill>
                <a:latin typeface="Aptos"/>
              </a:defRPr>
            </a:pPr>
            <a:r>
              <a:t>+0.52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5961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Pattern: extreme margins moved towards more typical levels on average (“mean reversion”).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FORECASTING  •  MANUAL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Make the FY2027 operating margin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65376"/>
            <a:ext cx="10625328" cy="1033271"/>
          </a:xfrm>
          <a:prstGeom prst="round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2121408"/>
            <a:ext cx="10131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Forecast margin = Current margin + Historical category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3191256"/>
            <a:ext cx="5166360" cy="208483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3191256"/>
            <a:ext cx="73152" cy="2084831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3" y="3392424"/>
            <a:ext cx="4727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High-margin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950208"/>
            <a:ext cx="470916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FY2026 margin: 80%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Expected change: −11.42 pp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FY2027 forecast: 68.58%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3191256"/>
            <a:ext cx="5166360" cy="208483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53912" y="3191256"/>
            <a:ext cx="73152" cy="2084831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3392424"/>
            <a:ext cx="4727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Low-margin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950208"/>
            <a:ext cx="470916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FY2026 margin: 3%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Expected change: +2.62 pp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FY2027 forecast: 5.62%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6967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9494"/>
                </a:solidFill>
                <a:latin typeface="Aptos"/>
              </a:defRPr>
            </a:pPr>
            <a:r>
              <a:t>The category-based change is a starting assumption—not a company-specific truth.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FORECAST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A financial analyst never stops at the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47088"/>
            <a:ext cx="52578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73152" cy="3566160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4818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Ask before trusting the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80060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Are peers in the same industry?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Is growth driven by one-off events?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How many observations support the estimate?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How dispersed are the outcomes?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847088"/>
            <a:ext cx="52578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8776" y="1847088"/>
            <a:ext cx="73152" cy="3566160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2048256"/>
            <a:ext cx="4818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Translate to professional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606040"/>
            <a:ext cx="480060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Use a base case, upside and downside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Explain the source of assumptions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Update forecasts as new results arrive</a:t>
            </a:r>
          </a:p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• Document limitations and judgment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9494"/>
                </a:solidFill>
                <a:latin typeface="Aptos"/>
              </a:defRPr>
            </a:pPr>
            <a:r>
              <a:t>CLASS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1F34"/>
                </a:solidFill>
                <a:latin typeface="Aptos"/>
              </a:defRPr>
            </a:pPr>
            <a:r>
              <a:t>What did we learn—and what comes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B798B"/>
                </a:solidFill>
                <a:latin typeface="Aptos"/>
              </a:defRPr>
            </a:pPr>
            <a:r>
              <a:t>ACCOUNTING DATA ANALYTICS  •  DETECTING PATTERNS IN FINANCIAL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B79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65376"/>
            <a:ext cx="5230368" cy="3310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865376"/>
            <a:ext cx="73152" cy="3310128"/>
          </a:xfrm>
          <a:prstGeom prst="rect">
            <a:avLst/>
          </a:prstGeom>
          <a:solidFill>
            <a:srgbClr val="00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066544"/>
            <a:ext cx="4791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Today’s transferable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624328"/>
            <a:ext cx="47731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Find historical comparables → track what happened next → summarise outcomes → create a reasoned forecast.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865376"/>
            <a:ext cx="5230368" cy="3310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1344" y="1865376"/>
            <a:ext cx="73152" cy="3310128"/>
          </a:xfrm>
          <a:prstGeom prst="rect">
            <a:avLst/>
          </a:prstGeom>
          <a:solidFill>
            <a:srgbClr val="F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2066544"/>
            <a:ext cx="4791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1F34"/>
                </a:solidFill>
                <a:latin typeface="Aptos"/>
              </a:defRPr>
            </a:pPr>
            <a:r>
              <a:t>Apply it yourself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624328"/>
            <a:ext cx="47731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84A"/>
                </a:solidFill>
                <a:latin typeface="Aptos"/>
              </a:defRPr>
            </a:pPr>
            <a:r>
              <a:t>Choose a company. Forecast next-year revenue and operating margin. Defend your assumptions, then identify two limitations.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62356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1F34"/>
                </a:solidFill>
                <a:latin typeface="Aptos"/>
              </a:defRPr>
            </a:pPr>
            <a:r>
              <a:t>A forecast is a reasoned estimate under uncertainty—not a promise about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1625</Words>
  <Application>Microsoft Office PowerPoint</Application>
  <PresentationFormat>Widescreen</PresentationFormat>
  <Paragraphs>205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Padma, Anusha</cp:lastModifiedBy>
  <cp:revision>1</cp:revision>
  <dcterms:created xsi:type="dcterms:W3CDTF">2013-01-27T09:14:16Z</dcterms:created>
  <dcterms:modified xsi:type="dcterms:W3CDTF">2026-10-26T03:19:25Z</dcterms:modified>
  <cp:category/>
</cp:coreProperties>
</file>